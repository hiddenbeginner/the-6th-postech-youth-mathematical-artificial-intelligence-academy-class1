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284" r:id="rId2"/>
    <p:sldId id="506" r:id="rId3"/>
    <p:sldId id="507" r:id="rId4"/>
    <p:sldId id="584" r:id="rId5"/>
    <p:sldId id="585" r:id="rId6"/>
    <p:sldId id="586" r:id="rId7"/>
    <p:sldId id="589" r:id="rId8"/>
    <p:sldId id="587" r:id="rId9"/>
    <p:sldId id="588" r:id="rId10"/>
    <p:sldId id="591" r:id="rId11"/>
    <p:sldId id="548" r:id="rId12"/>
    <p:sldId id="592" r:id="rId13"/>
    <p:sldId id="590" r:id="rId14"/>
    <p:sldId id="593" r:id="rId15"/>
    <p:sldId id="594" r:id="rId16"/>
    <p:sldId id="595" r:id="rId17"/>
    <p:sldId id="599" r:id="rId18"/>
    <p:sldId id="606" r:id="rId19"/>
    <p:sldId id="600" r:id="rId20"/>
    <p:sldId id="596" r:id="rId21"/>
    <p:sldId id="608" r:id="rId22"/>
    <p:sldId id="609" r:id="rId23"/>
    <p:sldId id="607" r:id="rId24"/>
    <p:sldId id="597" r:id="rId25"/>
    <p:sldId id="598" r:id="rId26"/>
    <p:sldId id="601" r:id="rId27"/>
    <p:sldId id="602" r:id="rId28"/>
    <p:sldId id="603" r:id="rId29"/>
    <p:sldId id="604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A4F313-27DC-4DAB-AF50-8A75E9CC17C1}" v="2" dt="2026-05-15T13:53:11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9"/>
    <p:restoredTop sz="94668"/>
  </p:normalViewPr>
  <p:slideViewPr>
    <p:cSldViewPr snapToGrid="0" showGuides="1">
      <p:cViewPr varScale="1">
        <p:scale>
          <a:sx n="104" d="100"/>
          <a:sy n="104" d="100"/>
        </p:scale>
        <p:origin x="828" y="11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지훈(산업경영공학과)" userId="f10e4a28-cc96-4aa6-a477-606261d4ea34" providerId="ADAL" clId="{E1BDFF36-D31A-4435-9114-39F6A8210863}"/>
    <pc:docChg chg="undo custSel addSld delSld modSld sldOrd">
      <pc:chgData name="최지훈(산업경영공학과)" userId="f10e4a28-cc96-4aa6-a477-606261d4ea34" providerId="ADAL" clId="{E1BDFF36-D31A-4435-9114-39F6A8210863}" dt="2026-05-15T13:53:16.748" v="158" actId="1076"/>
      <pc:docMkLst>
        <pc:docMk/>
      </pc:docMkLst>
      <pc:sldChg chg="modSp mod">
        <pc:chgData name="최지훈(산업경영공학과)" userId="f10e4a28-cc96-4aa6-a477-606261d4ea34" providerId="ADAL" clId="{E1BDFF36-D31A-4435-9114-39F6A8210863}" dt="2026-05-15T12:12:34.851" v="7" actId="20577"/>
        <pc:sldMkLst>
          <pc:docMk/>
          <pc:sldMk cId="670804839" sldId="284"/>
        </pc:sldMkLst>
        <pc:spChg chg="mod">
          <ac:chgData name="최지훈(산업경영공학과)" userId="f10e4a28-cc96-4aa6-a477-606261d4ea34" providerId="ADAL" clId="{E1BDFF36-D31A-4435-9114-39F6A8210863}" dt="2026-05-15T12:12:34.851" v="7" actId="20577"/>
          <ac:spMkLst>
            <pc:docMk/>
            <pc:sldMk cId="670804839" sldId="284"/>
            <ac:spMk id="3" creationId="{9CB860F2-EFA1-4A59-A136-7D1F4B287723}"/>
          </ac:spMkLst>
        </pc:spChg>
      </pc:sldChg>
      <pc:sldChg chg="modSp mod">
        <pc:chgData name="최지훈(산업경영공학과)" userId="f10e4a28-cc96-4aa6-a477-606261d4ea34" providerId="ADAL" clId="{E1BDFF36-D31A-4435-9114-39F6A8210863}" dt="2026-05-15T13:49:59.738" v="134" actId="20577"/>
        <pc:sldMkLst>
          <pc:docMk/>
          <pc:sldMk cId="2041512253" sldId="601"/>
        </pc:sldMkLst>
        <pc:spChg chg="mod">
          <ac:chgData name="최지훈(산업경영공학과)" userId="f10e4a28-cc96-4aa6-a477-606261d4ea34" providerId="ADAL" clId="{E1BDFF36-D31A-4435-9114-39F6A8210863}" dt="2026-05-15T13:49:59.738" v="134" actId="20577"/>
          <ac:spMkLst>
            <pc:docMk/>
            <pc:sldMk cId="2041512253" sldId="601"/>
            <ac:spMk id="2" creationId="{70AA1C61-6665-F2D8-5489-7F3F47A7F7F8}"/>
          </ac:spMkLst>
        </pc:spChg>
      </pc:sldChg>
      <pc:sldChg chg="modSp del mod">
        <pc:chgData name="최지훈(산업경영공학과)" userId="f10e4a28-cc96-4aa6-a477-606261d4ea34" providerId="ADAL" clId="{E1BDFF36-D31A-4435-9114-39F6A8210863}" dt="2026-05-15T13:52:01.700" v="151" actId="47"/>
        <pc:sldMkLst>
          <pc:docMk/>
          <pc:sldMk cId="824809624" sldId="605"/>
        </pc:sldMkLst>
        <pc:spChg chg="mod">
          <ac:chgData name="최지훈(산업경영공학과)" userId="f10e4a28-cc96-4aa6-a477-606261d4ea34" providerId="ADAL" clId="{E1BDFF36-D31A-4435-9114-39F6A8210863}" dt="2026-05-15T13:50:05.482" v="150" actId="20577"/>
          <ac:spMkLst>
            <pc:docMk/>
            <pc:sldMk cId="824809624" sldId="605"/>
            <ac:spMk id="2" creationId="{1B1E9F44-3A1F-4DA6-E11B-150C1B84F72C}"/>
          </ac:spMkLst>
        </pc:spChg>
      </pc:sldChg>
      <pc:sldChg chg="add del">
        <pc:chgData name="최지훈(산업경영공학과)" userId="f10e4a28-cc96-4aa6-a477-606261d4ea34" providerId="ADAL" clId="{E1BDFF36-D31A-4435-9114-39F6A8210863}" dt="2026-05-15T13:31:58.292" v="9" actId="2890"/>
        <pc:sldMkLst>
          <pc:docMk/>
          <pc:sldMk cId="2300800310" sldId="608"/>
        </pc:sldMkLst>
      </pc:sldChg>
      <pc:sldChg chg="addSp delSp modSp add mod ord">
        <pc:chgData name="최지훈(산업경영공학과)" userId="f10e4a28-cc96-4aa6-a477-606261d4ea34" providerId="ADAL" clId="{E1BDFF36-D31A-4435-9114-39F6A8210863}" dt="2026-05-15T13:45:09.708" v="116"/>
        <pc:sldMkLst>
          <pc:docMk/>
          <pc:sldMk cId="3469251027" sldId="608"/>
        </pc:sldMkLst>
        <pc:spChg chg="mod">
          <ac:chgData name="최지훈(산업경영공학과)" userId="f10e4a28-cc96-4aa6-a477-606261d4ea34" providerId="ADAL" clId="{E1BDFF36-D31A-4435-9114-39F6A8210863}" dt="2026-05-15T13:36:22.147" v="66" actId="5793"/>
          <ac:spMkLst>
            <pc:docMk/>
            <pc:sldMk cId="3469251027" sldId="608"/>
            <ac:spMk id="3" creationId="{43AA3F5D-A0AA-0C3F-FC51-019A89E6386D}"/>
          </ac:spMkLst>
        </pc:spChg>
        <pc:picChg chg="add mod">
          <ac:chgData name="최지훈(산업경영공학과)" userId="f10e4a28-cc96-4aa6-a477-606261d4ea34" providerId="ADAL" clId="{E1BDFF36-D31A-4435-9114-39F6A8210863}" dt="2026-05-15T13:36:26.782" v="67" actId="1076"/>
          <ac:picMkLst>
            <pc:docMk/>
            <pc:sldMk cId="3469251027" sldId="608"/>
            <ac:picMk id="5" creationId="{C4C0FBFF-A5C5-16B9-D77F-5837A4689E0E}"/>
          </ac:picMkLst>
        </pc:picChg>
        <pc:picChg chg="del">
          <ac:chgData name="최지훈(산업경영공학과)" userId="f10e4a28-cc96-4aa6-a477-606261d4ea34" providerId="ADAL" clId="{E1BDFF36-D31A-4435-9114-39F6A8210863}" dt="2026-05-15T13:32:19.144" v="11" actId="478"/>
          <ac:picMkLst>
            <pc:docMk/>
            <pc:sldMk cId="3469251027" sldId="608"/>
            <ac:picMk id="6146" creationId="{18C70F01-67C3-58F9-D678-EF1563208F51}"/>
          </ac:picMkLst>
        </pc:picChg>
      </pc:sldChg>
      <pc:sldChg chg="addSp delSp modSp add mod ord">
        <pc:chgData name="최지훈(산업경영공학과)" userId="f10e4a28-cc96-4aa6-a477-606261d4ea34" providerId="ADAL" clId="{E1BDFF36-D31A-4435-9114-39F6A8210863}" dt="2026-05-15T13:53:16.748" v="158" actId="1076"/>
        <pc:sldMkLst>
          <pc:docMk/>
          <pc:sldMk cId="2562097477" sldId="609"/>
        </pc:sldMkLst>
        <pc:spChg chg="mod">
          <ac:chgData name="최지훈(산업경영공학과)" userId="f10e4a28-cc96-4aa6-a477-606261d4ea34" providerId="ADAL" clId="{E1BDFF36-D31A-4435-9114-39F6A8210863}" dt="2026-05-15T13:35:46.895" v="64" actId="20577"/>
          <ac:spMkLst>
            <pc:docMk/>
            <pc:sldMk cId="2562097477" sldId="609"/>
            <ac:spMk id="3" creationId="{DD7F2ED1-B22F-B203-57F4-D5BB90C0E76F}"/>
          </ac:spMkLst>
        </pc:spChg>
        <pc:spChg chg="add mod">
          <ac:chgData name="최지훈(산업경영공학과)" userId="f10e4a28-cc96-4aa6-a477-606261d4ea34" providerId="ADAL" clId="{E1BDFF36-D31A-4435-9114-39F6A8210863}" dt="2026-05-15T13:53:16.748" v="158" actId="1076"/>
          <ac:spMkLst>
            <pc:docMk/>
            <pc:sldMk cId="2562097477" sldId="609"/>
            <ac:spMk id="5" creationId="{5E997E63-58B4-75F0-4500-3D4F5AC60875}"/>
          </ac:spMkLst>
        </pc:spChg>
        <pc:picChg chg="del">
          <ac:chgData name="최지훈(산업경영공학과)" userId="f10e4a28-cc96-4aa6-a477-606261d4ea34" providerId="ADAL" clId="{E1BDFF36-D31A-4435-9114-39F6A8210863}" dt="2026-05-15T13:34:34.924" v="16" actId="478"/>
          <ac:picMkLst>
            <pc:docMk/>
            <pc:sldMk cId="2562097477" sldId="609"/>
            <ac:picMk id="5" creationId="{E9C0E3B0-E0F0-5CAD-91D9-077C3C1D0E60}"/>
          </ac:picMkLst>
        </pc:picChg>
        <pc:picChg chg="add mod modCrop">
          <ac:chgData name="최지훈(산업경영공학과)" userId="f10e4a28-cc96-4aa6-a477-606261d4ea34" providerId="ADAL" clId="{E1BDFF36-D31A-4435-9114-39F6A8210863}" dt="2026-05-15T13:35:29.621" v="32" actId="1076"/>
          <ac:picMkLst>
            <pc:docMk/>
            <pc:sldMk cId="2562097477" sldId="609"/>
            <ac:picMk id="7" creationId="{D55301B2-48DF-197C-EACA-1C6040B7D12D}"/>
          </ac:picMkLst>
        </pc:picChg>
        <pc:picChg chg="add mod">
          <ac:chgData name="최지훈(산업경영공학과)" userId="f10e4a28-cc96-4aa6-a477-606261d4ea34" providerId="ADAL" clId="{E1BDFF36-D31A-4435-9114-39F6A8210863}" dt="2026-05-15T13:35:29.621" v="32" actId="1076"/>
          <ac:picMkLst>
            <pc:docMk/>
            <pc:sldMk cId="2562097477" sldId="609"/>
            <ac:picMk id="9" creationId="{C94090B1-3CFE-8166-E2B5-41A5E7B1490A}"/>
          </ac:picMkLst>
        </pc:picChg>
      </pc:sldChg>
      <pc:sldChg chg="addSp delSp modSp add del mod">
        <pc:chgData name="최지훈(산업경영공학과)" userId="f10e4a28-cc96-4aa6-a477-606261d4ea34" providerId="ADAL" clId="{E1BDFF36-D31A-4435-9114-39F6A8210863}" dt="2026-05-15T13:38:22.615" v="114" actId="47"/>
        <pc:sldMkLst>
          <pc:docMk/>
          <pc:sldMk cId="3331308972" sldId="610"/>
        </pc:sldMkLst>
        <pc:spChg chg="mod">
          <ac:chgData name="최지훈(산업경영공학과)" userId="f10e4a28-cc96-4aa6-a477-606261d4ea34" providerId="ADAL" clId="{E1BDFF36-D31A-4435-9114-39F6A8210863}" dt="2026-05-15T13:37:13.964" v="99" actId="20577"/>
          <ac:spMkLst>
            <pc:docMk/>
            <pc:sldMk cId="3331308972" sldId="610"/>
            <ac:spMk id="2" creationId="{485084E2-DBF1-77AF-78BE-4898D1473C98}"/>
          </ac:spMkLst>
        </pc:spChg>
        <pc:spChg chg="mod">
          <ac:chgData name="최지훈(산업경영공학과)" userId="f10e4a28-cc96-4aa6-a477-606261d4ea34" providerId="ADAL" clId="{E1BDFF36-D31A-4435-9114-39F6A8210863}" dt="2026-05-15T13:37:09.885" v="79" actId="20577"/>
          <ac:spMkLst>
            <pc:docMk/>
            <pc:sldMk cId="3331308972" sldId="610"/>
            <ac:spMk id="4" creationId="{0072ACCF-AD5D-B888-1B51-3020AB254EE5}"/>
          </ac:spMkLst>
        </pc:spChg>
        <pc:spChg chg="add del">
          <ac:chgData name="최지훈(산업경영공학과)" userId="f10e4a28-cc96-4aa6-a477-606261d4ea34" providerId="ADAL" clId="{E1BDFF36-D31A-4435-9114-39F6A8210863}" dt="2026-05-15T13:37:50.197" v="103" actId="478"/>
          <ac:spMkLst>
            <pc:docMk/>
            <pc:sldMk cId="3331308972" sldId="610"/>
            <ac:spMk id="5" creationId="{EC9F9640-9EB2-3226-45E1-CA9ED68B59A9}"/>
          </ac:spMkLst>
        </pc:spChg>
        <pc:spChg chg="add del">
          <ac:chgData name="최지훈(산업경영공학과)" userId="f10e4a28-cc96-4aa6-a477-606261d4ea34" providerId="ADAL" clId="{E1BDFF36-D31A-4435-9114-39F6A8210863}" dt="2026-05-15T13:37:57.857" v="106" actId="478"/>
          <ac:spMkLst>
            <pc:docMk/>
            <pc:sldMk cId="3331308972" sldId="610"/>
            <ac:spMk id="8" creationId="{86D5028D-C20C-CE05-3D01-B799395F6153}"/>
          </ac:spMkLst>
        </pc:spChg>
        <pc:spChg chg="add del">
          <ac:chgData name="최지훈(산업경영공학과)" userId="f10e4a28-cc96-4aa6-a477-606261d4ea34" providerId="ADAL" clId="{E1BDFF36-D31A-4435-9114-39F6A8210863}" dt="2026-05-15T13:38:01.290" v="109" actId="478"/>
          <ac:spMkLst>
            <pc:docMk/>
            <pc:sldMk cId="3331308972" sldId="610"/>
            <ac:spMk id="10" creationId="{FA1A2855-6CF4-8C87-AB13-B3F5C42E529F}"/>
          </ac:spMkLst>
        </pc:spChg>
        <pc:spChg chg="add del mod">
          <ac:chgData name="최지훈(산업경영공학과)" userId="f10e4a28-cc96-4aa6-a477-606261d4ea34" providerId="ADAL" clId="{E1BDFF36-D31A-4435-9114-39F6A8210863}" dt="2026-05-15T13:38:06.738" v="113" actId="478"/>
          <ac:spMkLst>
            <pc:docMk/>
            <pc:sldMk cId="3331308972" sldId="610"/>
            <ac:spMk id="12" creationId="{E8677A02-8053-0553-49D7-E27C22EB83E6}"/>
          </ac:spMkLst>
        </pc:spChg>
        <pc:picChg chg="del">
          <ac:chgData name="최지훈(산업경영공학과)" userId="f10e4a28-cc96-4aa6-a477-606261d4ea34" providerId="ADAL" clId="{E1BDFF36-D31A-4435-9114-39F6A8210863}" dt="2026-05-15T13:37:47.154" v="100" actId="478"/>
          <ac:picMkLst>
            <pc:docMk/>
            <pc:sldMk cId="3331308972" sldId="610"/>
            <ac:picMk id="6" creationId="{21A58502-77A9-524B-18EE-80ADF765F9E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0DB11-DDB6-D043-B91C-20C201D13B04}" type="datetimeFigureOut">
              <a:rPr kumimoji="1" lang="ko-KR" altLang="en-US" smtClean="0"/>
              <a:t>2026-05-15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0AF5E2-4161-F446-83EE-580812DD411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4147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EB40E-4650-403E-BBF3-61551C4CB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B2D60E-EE00-464D-BCFB-ED2BD6F81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42378F-1556-4C7C-A19E-E4E1EE59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ADE6D-7410-48BD-A9AE-50337DEC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507436-B24E-450D-89FE-D80D50CC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Google Shape;22;p30">
            <a:extLst>
              <a:ext uri="{FF2B5EF4-FFF2-40B4-BE49-F238E27FC236}">
                <a16:creationId xmlns:a16="http://schemas.microsoft.com/office/drawing/2014/main" id="{A8A5471C-D590-4030-B7EF-8E9A2E42842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57843" b="-3921"/>
          <a:stretch/>
        </p:blipFill>
        <p:spPr>
          <a:xfrm>
            <a:off x="285454" y="6440385"/>
            <a:ext cx="2138223" cy="334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950D0CB-A88E-462A-A149-5A69CF3745EA}"/>
              </a:ext>
            </a:extLst>
          </p:cNvPr>
          <p:cNvCxnSpPr>
            <a:cxnSpLocks/>
          </p:cNvCxnSpPr>
          <p:nvPr userDrawn="1"/>
        </p:nvCxnSpPr>
        <p:spPr>
          <a:xfrm>
            <a:off x="2423677" y="3505200"/>
            <a:ext cx="7387073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137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EB32F-F83F-4E77-87AB-0821FB729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FC1656-82C7-4B58-9C0B-E554495B4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>
            <a:lvl1pPr>
              <a:defRPr sz="2000">
                <a:latin typeface="+mj-lt"/>
                <a:ea typeface="+mj-ea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3D1D3-F815-4CBD-8448-566D78B40A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1353" y="6356350"/>
            <a:ext cx="2979255" cy="365125"/>
          </a:xfrm>
        </p:spPr>
        <p:txBody>
          <a:bodyPr/>
          <a:lstStyle/>
          <a:p>
            <a:fld id="{FBB19087-E85B-4DE7-B113-D7871D001D51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4FE55F-174B-490E-9C38-5860EBF2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78331" y="6356350"/>
            <a:ext cx="4468881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32DB33-5B83-484A-BB2D-35443E73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03753" y="6356350"/>
            <a:ext cx="2979255" cy="365125"/>
          </a:xfrm>
        </p:spPr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5A464C2-D032-4D59-BFC5-89FE6705177F}"/>
              </a:ext>
            </a:extLst>
          </p:cNvPr>
          <p:cNvCxnSpPr>
            <a:cxnSpLocks/>
          </p:cNvCxnSpPr>
          <p:nvPr userDrawn="1"/>
        </p:nvCxnSpPr>
        <p:spPr>
          <a:xfrm>
            <a:off x="428625" y="1114425"/>
            <a:ext cx="114204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7018E3E-D858-48DC-8A0F-AB4299D33A53}"/>
              </a:ext>
            </a:extLst>
          </p:cNvPr>
          <p:cNvCxnSpPr>
            <a:cxnSpLocks/>
          </p:cNvCxnSpPr>
          <p:nvPr userDrawn="1"/>
        </p:nvCxnSpPr>
        <p:spPr>
          <a:xfrm>
            <a:off x="428625" y="565150"/>
            <a:ext cx="114204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D730510C-6144-41D9-AE64-9D3CCC278D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53402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D8DC2-7AF1-4E6B-BF01-07470EF1D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C7F7E6-53BA-4C7A-AA97-16CADC841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62A65C-E0F2-4605-AD5A-F222274A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5A9395-349E-43BE-8598-97FB1417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CCA1EA-E19C-4562-9FC2-15966C83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00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0DF8F-89A1-40AE-9226-6E91CF93D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65E825-7AE7-4CAF-9896-AD164F48C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6B8C12-0343-4D66-85A9-88B2F525C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45D902-7415-4AC8-A47F-DFD27BF70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E26A55-F482-4978-A932-92EC96DCD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F6C7BF-7BAB-49FC-AE6E-EE858B62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5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83D564-0126-4C87-8596-89B768772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62BF6F-2A12-4F98-ACD0-5A5FFAF4B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25A814-C77E-4784-9DF0-DCCDBC10A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75B6D9-FAED-48F3-9CFE-033360CD6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DE1AC1-67E6-46B0-AED9-16FEF32D3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304EF31-2818-4D26-A47B-8BF7F66D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F3B606-295C-48FA-A0D8-C0FDAACD7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08804C-35A0-42A1-912C-508EDA32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77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450EF-0C08-4980-A30D-4863F7F2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7343BA-BF8D-4237-BA45-9DB5E4AD9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15F597-3743-4A16-A8A5-3F696395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A6A3BD-814D-4022-8464-E6259E86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13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6D8069B-676B-4ACB-8C07-B10B5A0BA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D78AAE-7E17-4B85-B474-BAC39DE68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B76EEF-133B-4854-9AF3-4267447F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93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F9C398-A06E-46B4-B00F-A30C5D91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BB5FA0-389D-4C4D-93F9-9F7CD683A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3484AD-A7A0-44AF-AAA3-054082349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F9DAF4-7D68-4769-900F-A292A77D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761130-3057-40A9-95EA-66784F966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8211D6-5E47-43A5-8AF0-AB607A287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354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3B1AD-3D9F-415C-822A-648ABF99F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23ECE1-C6D5-45B0-85E7-B6977A894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FC48F4-886E-41F6-8912-EA687B383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C1ECA9-5900-4BD2-B25E-026E7984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C9E2BB-DABE-418A-8A0B-687B626FC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AD1B74-81B9-4E9E-ADED-5428C5C9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45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FE710-44A0-4476-8BDF-1DDB59B9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DB7803-9234-42DE-B006-4C40EF5A1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B4D68F-9D98-40F8-8675-0921C3E6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2AF999-AF83-46C4-9D42-FC4671E3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CBBC94-C64D-4E09-9922-29B59910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01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D6BB1A1-9FA0-4337-8433-24B6F7FF36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1C096E-42FF-4C57-B21C-D83011846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05A83C-D2A8-471B-996E-004BDC19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9087-E85B-4DE7-B113-D7871D001D51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2DB4EF-465E-4518-9CED-85284FF8A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57A925-204C-465F-AF28-D14FE1160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26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109ECA-23A6-4ED3-9340-FB282E5CC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252E0F-CC0B-43D7-B69D-3C820891F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4F558C-51F8-450B-8DCB-3DBF23F5A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19087-E85B-4DE7-B113-D7871D001D51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36E0C5-1A68-4E50-8051-750861C994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5F85E-620D-4AA8-905E-115AF434D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49576-AC8C-4983-9737-2050E5D3035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1" name="Google Shape;22;p30">
            <a:extLst>
              <a:ext uri="{FF2B5EF4-FFF2-40B4-BE49-F238E27FC236}">
                <a16:creationId xmlns:a16="http://schemas.microsoft.com/office/drawing/2014/main" id="{A0DA110C-A8D8-48D5-B31D-CD87C45039FC}"/>
              </a:ext>
            </a:extLst>
          </p:cNvPr>
          <p:cNvPicPr preferRelativeResize="0"/>
          <p:nvPr userDrawn="1"/>
        </p:nvPicPr>
        <p:blipFill rotWithShape="1">
          <a:blip r:embed="rId13">
            <a:alphaModFix/>
          </a:blip>
          <a:srcRect r="57843" b="-3921"/>
          <a:stretch/>
        </p:blipFill>
        <p:spPr>
          <a:xfrm>
            <a:off x="285454" y="6440385"/>
            <a:ext cx="2138223" cy="334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6760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04D85-3907-49C7-89ED-7C79C6E20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9296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Multi-Layer Perceptron</a:t>
            </a:r>
            <a:endParaRPr lang="ko-KR" altLang="en-US" sz="3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B860F2-EFA1-4A59-A136-7D1F4B287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979612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Jihoon Choi</a:t>
            </a:r>
          </a:p>
          <a:p>
            <a:r>
              <a:rPr lang="en-US" altLang="ko-KR" sz="1800" dirty="0"/>
              <a:t>2026.05.16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70804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075BC6-48BB-B667-49E1-274B9144F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7F8DCE-BEEC-3B4A-699E-24D20DB89F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CE05B93-6756-45E1-A9DA-B5971D884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인공지능의 발전과 </a:t>
            </a:r>
            <a:r>
              <a:rPr lang="ko-KR" altLang="en-US" dirty="0" err="1"/>
              <a:t>퍼셉트론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퍼셉트론의</a:t>
            </a:r>
            <a:r>
              <a:rPr lang="ko-KR" altLang="en-US" dirty="0"/>
              <a:t> 한계와 해결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새로운 학습 방법과 </a:t>
            </a:r>
            <a:r>
              <a:rPr lang="en-US" altLang="ko-KR" dirty="0"/>
              <a:t>Multi-Layer Perceptron</a:t>
            </a:r>
            <a:r>
              <a:rPr lang="ko-KR" altLang="en-US" dirty="0"/>
              <a:t>의 등장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MLP</a:t>
            </a:r>
            <a:r>
              <a:rPr lang="ko-KR" altLang="en-US" dirty="0"/>
              <a:t>의 한계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파이썬 실습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22810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E09C0-AB53-EB84-25DA-96E56458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38C8F-3BBD-7908-EFF1-D0A579EB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퍼셉트론의</a:t>
            </a:r>
            <a:r>
              <a:rPr lang="ko-KR" altLang="en-US" dirty="0"/>
              <a:t> 등장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D34373-A18F-F040-CB5A-91DA646026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인공지능의 발전과 </a:t>
            </a:r>
            <a:r>
              <a:rPr lang="ko-KR" altLang="en-US" dirty="0" err="1"/>
              <a:t>퍼셉트론</a:t>
            </a:r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4C6FB9DB-C110-BD7F-FCAA-4EBC2BC6B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1032" name="Picture 8" descr="Timeline showing advances in artificial neural networks and deep learning">
            <a:extLst>
              <a:ext uri="{FF2B5EF4-FFF2-40B4-BE49-F238E27FC236}">
                <a16:creationId xmlns:a16="http://schemas.microsoft.com/office/drawing/2014/main" id="{7054CBF6-7E08-207F-41F7-E291835F1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847" y="1524198"/>
            <a:ext cx="7806305" cy="4652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8216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A220E-41AB-6B3B-EB1B-A81C70DCB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4AC8C-2EA0-1D4B-4142-7CC4D0C43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퍼셉트론이란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506151-97EB-7590-3E18-99747AA7D5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인공지능의 발전과 </a:t>
            </a:r>
            <a:r>
              <a:rPr lang="ko-KR" altLang="en-US" dirty="0" err="1"/>
              <a:t>퍼셉트론</a:t>
            </a:r>
            <a:endParaRPr lang="ko-KR" altLang="en-US" dirty="0"/>
          </a:p>
        </p:txBody>
      </p:sp>
      <p:pic>
        <p:nvPicPr>
          <p:cNvPr id="3074" name="Picture 2" descr="The Concept of Artificial Neurons (Perceptrons) in Neural Networks |  Towards Data Science">
            <a:extLst>
              <a:ext uri="{FF2B5EF4-FFF2-40B4-BE49-F238E27FC236}">
                <a16:creationId xmlns:a16="http://schemas.microsoft.com/office/drawing/2014/main" id="{748DFF1A-811D-3B30-7B7E-C40EE05AE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330" y="2161430"/>
            <a:ext cx="8201340" cy="351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BDB4E6E-F5F2-8C3F-C8E3-66D35CC30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미국의 심리학자 프랭크 </a:t>
            </a:r>
            <a:r>
              <a:rPr lang="ko-KR" altLang="en-US" dirty="0" err="1"/>
              <a:t>로젠블랫</a:t>
            </a:r>
            <a:r>
              <a:rPr lang="en-US" altLang="ko-KR" dirty="0"/>
              <a:t>(1928-1971)</a:t>
            </a:r>
            <a:r>
              <a:rPr lang="ko-KR" altLang="en-US" dirty="0"/>
              <a:t>이 </a:t>
            </a:r>
            <a:r>
              <a:rPr lang="en-US" altLang="ko-KR" dirty="0"/>
              <a:t>1957</a:t>
            </a:r>
            <a:r>
              <a:rPr lang="ko-KR" altLang="en-US" dirty="0"/>
              <a:t>년 발표한 개념</a:t>
            </a:r>
            <a:r>
              <a:rPr lang="en-US" altLang="ko-KR" dirty="0"/>
              <a:t>.</a:t>
            </a:r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749923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A7EDC-58B0-C01B-6A92-40618F0A5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24ABF-6DEF-8FE4-2951-0154C44D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퍼셉트론이란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A6BAE3-CE32-BC4B-620E-D2BCDF4F55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인공지능의 발전과 </a:t>
            </a:r>
            <a:r>
              <a:rPr lang="ko-KR" altLang="en-US" dirty="0" err="1"/>
              <a:t>퍼셉트론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2E61F29-BD35-711F-90B6-187C6CFB4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 err="1"/>
              <a:t>퍼셉트론의</a:t>
            </a:r>
            <a:r>
              <a:rPr lang="ko-KR" altLang="en-US" sz="2400" dirty="0"/>
              <a:t> 구조는 </a:t>
            </a:r>
            <a:endParaRPr lang="en-US" altLang="ko-KR" sz="2400" dirty="0"/>
          </a:p>
          <a:p>
            <a:pPr lvl="1"/>
            <a:r>
              <a:rPr lang="ko-KR" altLang="en-US" sz="2200" dirty="0"/>
              <a:t>입력 신호에 가중치를 곱하고</a:t>
            </a:r>
            <a:endParaRPr lang="en-US" altLang="ko-KR" sz="2200" dirty="0"/>
          </a:p>
          <a:p>
            <a:pPr lvl="1"/>
            <a:r>
              <a:rPr lang="ko-KR" altLang="en-US" sz="2200" dirty="0"/>
              <a:t>그 합이 </a:t>
            </a:r>
            <a:r>
              <a:rPr lang="ko-KR" altLang="en-US" sz="2200" dirty="0" err="1"/>
              <a:t>임계값을</a:t>
            </a:r>
            <a:r>
              <a:rPr lang="ko-KR" altLang="en-US" sz="2200" dirty="0"/>
              <a:t> 넘으면 </a:t>
            </a:r>
            <a:r>
              <a:rPr lang="en-US" altLang="ko-KR" sz="2200" dirty="0"/>
              <a:t>1</a:t>
            </a:r>
          </a:p>
          <a:p>
            <a:pPr lvl="1"/>
            <a:r>
              <a:rPr lang="ko-KR" altLang="en-US" sz="2200" dirty="0"/>
              <a:t>그렇지 않으면 </a:t>
            </a:r>
            <a:r>
              <a:rPr lang="en-US" altLang="ko-KR" sz="2200" dirty="0"/>
              <a:t>0</a:t>
            </a:r>
          </a:p>
          <a:p>
            <a:r>
              <a:rPr lang="ko-Kore-KR" altLang="en-US" sz="2400" dirty="0"/>
              <a:t>을</a:t>
            </a:r>
            <a:r>
              <a:rPr lang="ko-KR" altLang="en-US" sz="2400" dirty="0"/>
              <a:t> 출력하도록 간단하게 제안되었음</a:t>
            </a:r>
            <a:r>
              <a:rPr lang="en-US" altLang="ko-KR" sz="2400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83031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7731A-F441-43ED-B409-733742538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D1DDD-3B43-B94A-931D-00478E33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퍼셉트론이란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1D2199-4668-F8AD-2F23-CC50C09EA2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인공지능의 발전과 </a:t>
            </a:r>
            <a:r>
              <a:rPr lang="ko-KR" altLang="en-US" dirty="0" err="1"/>
              <a:t>퍼셉트론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2E54512-8EA7-287F-372A-F2D695E14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</a:t>
            </a:r>
            <a:endParaRPr lang="en-US" altLang="ko-KR" dirty="0"/>
          </a:p>
        </p:txBody>
      </p:sp>
      <p:pic>
        <p:nvPicPr>
          <p:cNvPr id="5122" name="Picture 2" descr="The Glowing Python: The Perceptron">
            <a:extLst>
              <a:ext uri="{FF2B5EF4-FFF2-40B4-BE49-F238E27FC236}">
                <a16:creationId xmlns:a16="http://schemas.microsoft.com/office/drawing/2014/main" id="{5F6656EE-6838-973C-4735-E5C5E193C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942" y="2815524"/>
            <a:ext cx="5752116" cy="237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61B159-7857-E7C8-1452-7C3902FC6DC0}"/>
                  </a:ext>
                </a:extLst>
              </p:cNvPr>
              <p:cNvSpPr txBox="1"/>
              <p:nvPr/>
            </p:nvSpPr>
            <p:spPr>
              <a:xfrm>
                <a:off x="3101171" y="1266454"/>
                <a:ext cx="6075381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ko-KR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3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36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3600" i="1">
                          <a:latin typeface="Cambria Math" panose="02040503050406030204" pitchFamily="18" charset="0"/>
                        </a:rPr>
                        <m:t>&gt;0⇒</m:t>
                      </m:r>
                      <m:r>
                        <a:rPr lang="en-US" altLang="ko-KR" sz="36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36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ko-KR" sz="3600" dirty="0"/>
              </a:p>
              <a:p>
                <a:r>
                  <a:rPr lang="en-US" altLang="ko-KR" sz="3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3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3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3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3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3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3600" i="1">
                        <a:latin typeface="Cambria Math" panose="02040503050406030204" pitchFamily="18" charset="0"/>
                      </a:rPr>
                      <m:t>≤0⇒</m:t>
                    </m:r>
                    <m:r>
                      <a:rPr lang="en-US" altLang="ko-KR" sz="3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3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61B159-7857-E7C8-1452-7C3902FC6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171" y="1266454"/>
                <a:ext cx="6075381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02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22ED-33F1-4B79-90EF-6DBF47FB6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D67771-FB74-938C-778D-38108A6E8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퍼셉트론이란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A7EC2E-C402-5FB3-76A0-3CC4DAF5AE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인공지능의 발전과 </a:t>
            </a:r>
            <a:r>
              <a:rPr lang="ko-KR" altLang="en-US" dirty="0" err="1"/>
              <a:t>퍼셉트론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B2E2BAC-A457-A3FD-2649-2542212CA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왜 </a:t>
            </a:r>
            <a:r>
              <a:rPr lang="ko-KR" altLang="en-US" sz="2400" dirty="0" err="1"/>
              <a:t>퍼셉트론이</a:t>
            </a:r>
            <a:r>
              <a:rPr lang="ko-KR" altLang="en-US" sz="2400" dirty="0"/>
              <a:t> 이렇게 유명해졌는가</a:t>
            </a:r>
            <a:r>
              <a:rPr lang="en-US" altLang="ko-KR" sz="2400" dirty="0"/>
              <a:t>?</a:t>
            </a:r>
            <a:endParaRPr lang="ko-Kore-KR" altLang="en-US" sz="2400" dirty="0"/>
          </a:p>
        </p:txBody>
      </p:sp>
      <p:pic>
        <p:nvPicPr>
          <p:cNvPr id="3" name="Picture 8" descr="Timeline showing advances in artificial neural networks and deep learning">
            <a:extLst>
              <a:ext uri="{FF2B5EF4-FFF2-40B4-BE49-F238E27FC236}">
                <a16:creationId xmlns:a16="http://schemas.microsoft.com/office/drawing/2014/main" id="{7F90A243-AC6B-C51A-EBE6-C9A25FE55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847" y="1706760"/>
            <a:ext cx="7806305" cy="4652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CDCCEB1-66F0-9B2A-FC82-BF313B0BCF9B}"/>
              </a:ext>
            </a:extLst>
          </p:cNvPr>
          <p:cNvSpPr/>
          <p:nvPr/>
        </p:nvSpPr>
        <p:spPr>
          <a:xfrm>
            <a:off x="2446473" y="3045981"/>
            <a:ext cx="1683465" cy="3203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1592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68398-AF71-F21A-7AD8-2B471366D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8F68B-4859-0A80-244B-111F8BDD7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퍼셉트론이란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7414A4-94B9-8DEC-A8F6-B843690CC0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인공지능의 발전과 </a:t>
            </a:r>
            <a:r>
              <a:rPr lang="ko-KR" altLang="en-US" dirty="0" err="1"/>
              <a:t>퍼셉트론</a:t>
            </a:r>
            <a:endParaRPr lang="ko-KR" altLang="en-US" dirty="0"/>
          </a:p>
        </p:txBody>
      </p:sp>
      <p:pic>
        <p:nvPicPr>
          <p:cNvPr id="7170" name="Picture 2" descr="Alex Hay | Computing Logic Funcitons using Perceptrons">
            <a:extLst>
              <a:ext uri="{FF2B5EF4-FFF2-40B4-BE49-F238E27FC236}">
                <a16:creationId xmlns:a16="http://schemas.microsoft.com/office/drawing/2014/main" id="{F8D0D912-6CE8-12C2-B5CD-8AD0A6AC44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0027"/>
          <a:stretch>
            <a:fillRect/>
          </a:stretch>
        </p:blipFill>
        <p:spPr bwMode="auto">
          <a:xfrm>
            <a:off x="4136340" y="1702824"/>
            <a:ext cx="3919319" cy="438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C522707-1301-E5B0-A433-C7F965DB3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ore-KR" altLang="en-US" sz="2400" dirty="0"/>
              <a:t>이러한</a:t>
            </a:r>
            <a:r>
              <a:rPr lang="ko-KR" altLang="en-US" sz="2400" dirty="0"/>
              <a:t> 선을 어떻게 찾을 수 있을까</a:t>
            </a:r>
            <a:r>
              <a:rPr lang="en-US" altLang="ko-KR" sz="2400" dirty="0"/>
              <a:t>?</a:t>
            </a:r>
            <a:endParaRPr lang="ko-Kore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53077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5DEFA-80CB-C9E0-3559-A478DF741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CC118-5B65-E63E-574B-3EC68E37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퍼셉트론이란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D9DF62-79F6-BD92-DA29-843FE9512C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인공지능의 발전과 </a:t>
            </a:r>
            <a:r>
              <a:rPr lang="ko-KR" altLang="en-US" dirty="0" err="1"/>
              <a:t>퍼셉트론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63E7868-731A-14F4-A6A6-182A654B4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/>
              <a:t>퍼셉트론</a:t>
            </a:r>
            <a:r>
              <a:rPr lang="ko-KR" altLang="en-US" sz="2400" dirty="0"/>
              <a:t> 알고리즘</a:t>
            </a:r>
            <a:endParaRPr lang="ko-Kore-KR" altLang="en-US" sz="2400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FDDC515-959C-2853-7F82-52E92C5FD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209" y="1797050"/>
            <a:ext cx="8179305" cy="435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114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9B2C8-B987-B547-6161-E40C33776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74E19-B677-3EEE-CCBD-08E355583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퍼셉트론의</a:t>
            </a:r>
            <a:r>
              <a:rPr lang="ko-KR" altLang="en-US" dirty="0"/>
              <a:t> 한계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19E8BD-AB8F-15B6-A5CD-86B6098BA1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ko-KR" altLang="en-US" dirty="0" err="1"/>
              <a:t>퍼셉트론의</a:t>
            </a:r>
            <a:r>
              <a:rPr lang="ko-KR" altLang="en-US" dirty="0"/>
              <a:t> 한계와 해결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C85CFF2-6A3E-2795-A352-ED2D505F7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ore-KR" altLang="en-US" sz="2400" dirty="0"/>
              <a:t>마빈민스키가</a:t>
            </a:r>
            <a:r>
              <a:rPr lang="ko-KR" altLang="en-US" sz="2400" dirty="0"/>
              <a:t> 제안한 </a:t>
            </a:r>
            <a:r>
              <a:rPr lang="en-US" altLang="ko-KR" sz="2400" dirty="0"/>
              <a:t>XOR </a:t>
            </a:r>
            <a:r>
              <a:rPr lang="ko-KR" altLang="en-US" sz="2400" dirty="0"/>
              <a:t>문제  </a:t>
            </a:r>
            <a:endParaRPr lang="ko-Kore-KR" altLang="en-US" sz="2400" dirty="0"/>
          </a:p>
        </p:txBody>
      </p:sp>
      <p:pic>
        <p:nvPicPr>
          <p:cNvPr id="6" name="Picture 2" descr="Alex Hay | Computing Logic Funcitons using Perceptrons">
            <a:extLst>
              <a:ext uri="{FF2B5EF4-FFF2-40B4-BE49-F238E27FC236}">
                <a16:creationId xmlns:a16="http://schemas.microsoft.com/office/drawing/2014/main" id="{706BC342-5585-BFC1-F0BD-8B06BBE37A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-1009"/>
          <a:stretch>
            <a:fillRect/>
          </a:stretch>
        </p:blipFill>
        <p:spPr bwMode="auto">
          <a:xfrm>
            <a:off x="2134955" y="1654380"/>
            <a:ext cx="7922089" cy="438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EB2D92A-A4BC-F5AA-7BFB-9A3265BA469E}"/>
              </a:ext>
            </a:extLst>
          </p:cNvPr>
          <p:cNvSpPr/>
          <p:nvPr/>
        </p:nvSpPr>
        <p:spPr>
          <a:xfrm>
            <a:off x="6138862" y="2257096"/>
            <a:ext cx="4022484" cy="3179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98687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F1293-34BC-3FBB-90C7-D5B4FE7E3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D529C-884F-4F76-AD2B-0BDE03988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퍼셉트론은</a:t>
            </a:r>
            <a:r>
              <a:rPr lang="ko-KR" altLang="en-US" dirty="0"/>
              <a:t> 이 문제를 해결할 수 없는가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76FAF1-AB73-C08F-900E-3E9D0DB013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ko-KR" altLang="en-US" dirty="0" err="1"/>
              <a:t>퍼셉트론의</a:t>
            </a:r>
            <a:r>
              <a:rPr lang="ko-KR" altLang="en-US" dirty="0"/>
              <a:t> 한계와 해결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19F3838-72D0-78C8-B161-C603BD2F3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r>
              <a:rPr lang="en-US" altLang="ko-KR" dirty="0"/>
              <a:t>2 – layer perceptron</a:t>
            </a:r>
            <a:r>
              <a:rPr lang="ko-KR" altLang="en-US" dirty="0"/>
              <a:t>을 사용하면 이를 해결할 수 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17410" name="Picture 2" descr="Multi-Layer Perceptron - AI at the edge">
            <a:extLst>
              <a:ext uri="{FF2B5EF4-FFF2-40B4-BE49-F238E27FC236}">
                <a16:creationId xmlns:a16="http://schemas.microsoft.com/office/drawing/2014/main" id="{5102FD0E-42A6-F9CD-A962-DDDA61D26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977" y="1797050"/>
            <a:ext cx="5417770" cy="4063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007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3E19A-2507-C8EF-0CE2-4E88B5E26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997B7-3318-8725-5FD8-C23D1130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퍼셉트론은</a:t>
            </a:r>
            <a:r>
              <a:rPr lang="ko-KR" altLang="en-US" dirty="0"/>
              <a:t> 이 문제를 해결할 수 없는가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9062DE-B51C-F826-2628-6A7239146C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ko-KR" altLang="en-US" dirty="0" err="1"/>
              <a:t>퍼셉트론의</a:t>
            </a:r>
            <a:r>
              <a:rPr lang="ko-KR" altLang="en-US" dirty="0"/>
              <a:t> 한계와 해결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6144F489-133C-F7CB-BD5A-D235F79F6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r>
              <a:rPr lang="ko-KR" altLang="en-US" dirty="0"/>
              <a:t>이렇게 쌓은 </a:t>
            </a:r>
            <a:r>
              <a:rPr lang="en-US" altLang="ko-KR" dirty="0"/>
              <a:t>Multi-Layer Perceptron</a:t>
            </a:r>
            <a:r>
              <a:rPr lang="ko-KR" altLang="en-US" dirty="0"/>
              <a:t>을 학습할 방법이 마땅치 않았다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19458" name="Picture 2" descr="2016년 사라진 과학계 별들](11) 컴퓨터를 활용한 아동 교육의 선구자 '시모어 페퍼트' : 동아사이언스">
            <a:extLst>
              <a:ext uri="{FF2B5EF4-FFF2-40B4-BE49-F238E27FC236}">
                <a16:creationId xmlns:a16="http://schemas.microsoft.com/office/drawing/2014/main" id="{9E80711F-8C04-92AA-122B-969D19887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502" y="2774388"/>
            <a:ext cx="4216400" cy="193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Perceptrons | Minsky, Marvin - 교보문고">
            <a:extLst>
              <a:ext uri="{FF2B5EF4-FFF2-40B4-BE49-F238E27FC236}">
                <a16:creationId xmlns:a16="http://schemas.microsoft.com/office/drawing/2014/main" id="{6296C871-BEFB-7932-73C2-211520E02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344" y="1743307"/>
            <a:ext cx="2324100" cy="349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951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42B96-9C14-E4E2-5C2C-548DBF625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FEF90-8395-6176-13A4-871B7390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새로운 학습 방법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108D63-BCA4-EE16-25D4-6BC3E804F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새로운 학습 방법과 </a:t>
            </a:r>
            <a:r>
              <a:rPr lang="en-US" altLang="ko-KR" dirty="0"/>
              <a:t>MLP</a:t>
            </a:r>
            <a:r>
              <a:rPr lang="ko-KR" altLang="en-US" dirty="0"/>
              <a:t>의 등장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07C5EAB-02A2-E988-BEB8-3103553A4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ko-Kore-KR" altLang="en-US" sz="2400" dirty="0"/>
          </a:p>
        </p:txBody>
      </p:sp>
      <p:pic>
        <p:nvPicPr>
          <p:cNvPr id="3" name="Picture 8" descr="Timeline showing advances in artificial neural networks and deep learning">
            <a:extLst>
              <a:ext uri="{FF2B5EF4-FFF2-40B4-BE49-F238E27FC236}">
                <a16:creationId xmlns:a16="http://schemas.microsoft.com/office/drawing/2014/main" id="{B2052919-8328-800D-DFE6-95B61ADC5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904" y="1352649"/>
            <a:ext cx="7806305" cy="4652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DC8756D-264D-6D3E-B0B0-7F61220A6A4A}"/>
              </a:ext>
            </a:extLst>
          </p:cNvPr>
          <p:cNvSpPr/>
          <p:nvPr/>
        </p:nvSpPr>
        <p:spPr>
          <a:xfrm>
            <a:off x="4113860" y="2734927"/>
            <a:ext cx="1477573" cy="3179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81461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29041-F437-B416-1C8D-BFB4ADBC7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0D639-05D3-089E-7470-0BD40FD0F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새로운 학습 방법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6B7FCA-1271-0434-226B-F871459332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새로운 학습 방법과 </a:t>
            </a:r>
            <a:r>
              <a:rPr lang="en-US" altLang="ko-KR" dirty="0"/>
              <a:t>MLP</a:t>
            </a:r>
            <a:r>
              <a:rPr lang="ko-KR" altLang="en-US" dirty="0"/>
              <a:t>의 등장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AE30B3B2-7C20-3797-ABE7-E2D820EE5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ore-KR" sz="2400" dirty="0"/>
              <a:t>Backpropagation</a:t>
            </a:r>
            <a:r>
              <a:rPr lang="ko-KR" altLang="en-US" sz="2400" dirty="0"/>
              <a:t>을 </a:t>
            </a:r>
            <a:r>
              <a:rPr lang="en-US" altLang="ko-KR" sz="2400" dirty="0"/>
              <a:t>MLP</a:t>
            </a:r>
            <a:r>
              <a:rPr lang="ko-KR" altLang="en-US" sz="2400" dirty="0"/>
              <a:t>학습에 적용</a:t>
            </a:r>
            <a:endParaRPr lang="ko-Kore-KR" altLang="en-US" sz="2400" dirty="0"/>
          </a:p>
        </p:txBody>
      </p:sp>
      <p:pic>
        <p:nvPicPr>
          <p:cNvPr id="23554" name="Picture 2" descr="제프리 힌튼 - 나무위키">
            <a:extLst>
              <a:ext uri="{FF2B5EF4-FFF2-40B4-BE49-F238E27FC236}">
                <a16:creationId xmlns:a16="http://schemas.microsoft.com/office/drawing/2014/main" id="{3E2882B0-1838-33D3-A14C-E64D4DE73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10" y="2593929"/>
            <a:ext cx="3548030" cy="25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hat is backpropagation in neural networks?">
            <a:extLst>
              <a:ext uri="{FF2B5EF4-FFF2-40B4-BE49-F238E27FC236}">
                <a16:creationId xmlns:a16="http://schemas.microsoft.com/office/drawing/2014/main" id="{BD716D10-7901-0F78-15BE-26E3BD674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918" y="1841530"/>
            <a:ext cx="6680972" cy="400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157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2A398-A930-2D6D-2D6F-00E2A16B3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595A53-B64D-6044-D4E0-B77D883F6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Multi-Layer Perceptron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EBF025-6D44-2792-5E80-15F48D446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새로운 학습 방법과 </a:t>
            </a:r>
            <a:r>
              <a:rPr lang="en-US" altLang="ko-KR" dirty="0"/>
              <a:t>MLP</a:t>
            </a:r>
            <a:r>
              <a:rPr lang="ko-KR" altLang="en-US" dirty="0"/>
              <a:t>의 등장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C863223-6A94-076D-7A7C-23C8541EC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ore-KR" altLang="en-US" dirty="0"/>
          </a:p>
        </p:txBody>
      </p:sp>
      <p:pic>
        <p:nvPicPr>
          <p:cNvPr id="6" name="Picture 2" descr="What is backpropagation in neural networks?">
            <a:extLst>
              <a:ext uri="{FF2B5EF4-FFF2-40B4-BE49-F238E27FC236}">
                <a16:creationId xmlns:a16="http://schemas.microsoft.com/office/drawing/2014/main" id="{E44E8069-7A84-ECBA-54C9-08F7B49F2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514" y="1797050"/>
            <a:ext cx="6680972" cy="400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827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AD37E-8E30-1583-7E2F-7E4018FD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88C82-5415-2A66-8927-7470A778D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Multi-Layer Perceptron</a:t>
            </a:r>
            <a:endParaRPr lang="ko-KR" altLang="en-US" dirty="0"/>
          </a:p>
        </p:txBody>
      </p:sp>
      <p:pic>
        <p:nvPicPr>
          <p:cNvPr id="4098" name="Picture 2" descr="MLPClassifier의 다중 레이블 분류 | 텐서 플로우 블로그 (Tensor ≈ Blog)">
            <a:extLst>
              <a:ext uri="{FF2B5EF4-FFF2-40B4-BE49-F238E27FC236}">
                <a16:creationId xmlns:a16="http://schemas.microsoft.com/office/drawing/2014/main" id="{12C3B492-F92E-2B62-CCBB-F4130622D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09019" y="1363662"/>
            <a:ext cx="7373961" cy="499586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1B29C7-340F-59F1-46E0-8B36493C66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새로운 학습 방법과 </a:t>
            </a:r>
            <a:r>
              <a:rPr lang="en-US" altLang="ko-KR" dirty="0"/>
              <a:t>MLP</a:t>
            </a:r>
            <a:r>
              <a:rPr lang="ko-KR" altLang="en-US" dirty="0"/>
              <a:t>의 등장</a:t>
            </a:r>
          </a:p>
        </p:txBody>
      </p:sp>
    </p:spTree>
    <p:extLst>
      <p:ext uri="{BB962C8B-B14F-4D97-AF65-F5344CB8AC3E}">
        <p14:creationId xmlns:p14="http://schemas.microsoft.com/office/powerpoint/2010/main" val="3826051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B3EB1-B1E3-67F8-9B03-48707993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D9C86-94A0-3FDF-6F1A-AA5370515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Multi-Layer Perceptron(Forward)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DF2DC8-1088-0CFF-E8C0-8F58E845F3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새로운 학습 방법과 </a:t>
            </a:r>
            <a:r>
              <a:rPr lang="en-US" altLang="ko-KR" dirty="0"/>
              <a:t>MLP</a:t>
            </a:r>
            <a:r>
              <a:rPr lang="ko-KR" altLang="en-US" dirty="0"/>
              <a:t>의 등장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018C6B-5AEB-0B02-B16B-6A2C2F02C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ore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D31328-F597-2725-3F72-A209A747E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411" y="1899699"/>
            <a:ext cx="5295177" cy="2985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68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626D3-A59E-8569-6480-FB8C01749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DCC6B-49F5-9858-8FF8-EEBA04C9D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Multi-Layer Perceptron(Activation Function)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05CDAC-A98B-9B20-1E85-B72A556B55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새로운 학습 방법과 </a:t>
            </a:r>
            <a:r>
              <a:rPr lang="en-US" altLang="ko-KR" dirty="0"/>
              <a:t>MLP</a:t>
            </a:r>
            <a:r>
              <a:rPr lang="ko-KR" altLang="en-US" dirty="0"/>
              <a:t>의 등장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840DC1-D1C4-B733-50D1-7255FE72B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왜 비선형인가</a:t>
            </a:r>
            <a:r>
              <a:rPr lang="en-US" altLang="ko-KR" sz="2400" dirty="0"/>
              <a:t>?</a:t>
            </a:r>
            <a:endParaRPr lang="ko-Kore-KR" altLang="en-US" sz="2400" dirty="0"/>
          </a:p>
        </p:txBody>
      </p:sp>
      <p:sp>
        <p:nvSpPr>
          <p:cNvPr id="3" name="AutoShape 2" descr="Multi-Layer Perceptron (MLP) diagram with four hidden layers and a... |  Download Scientific Diagram">
            <a:extLst>
              <a:ext uri="{FF2B5EF4-FFF2-40B4-BE49-F238E27FC236}">
                <a16:creationId xmlns:a16="http://schemas.microsoft.com/office/drawing/2014/main" id="{5B11C552-0AD0-2622-D577-BD8BF48007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34" name="Picture 10" descr="An Overview on Multilayer Perceptron (MLP) [Updated]">
            <a:extLst>
              <a:ext uri="{FF2B5EF4-FFF2-40B4-BE49-F238E27FC236}">
                <a16:creationId xmlns:a16="http://schemas.microsoft.com/office/drawing/2014/main" id="{45F92284-EDCF-A11B-307F-C1D826598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025" y="1666875"/>
            <a:ext cx="8743950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201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974E8-FD81-F484-8699-5DA85FEC1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918F5C-EDB2-85BA-18A4-E2494B19C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Multi-Layer Perceptron(Backward Propagation)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AF5B7B-81D0-D320-2C74-5723C869AA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새로운 학습 방법과 </a:t>
            </a:r>
            <a:r>
              <a:rPr lang="en-US" altLang="ko-KR" dirty="0"/>
              <a:t>MLP</a:t>
            </a:r>
            <a:r>
              <a:rPr lang="ko-KR" altLang="en-US" dirty="0"/>
              <a:t>의 등장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29F174-1201-3E99-355B-5194876CD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ore-KR" altLang="en-US" sz="2400" dirty="0"/>
              <a:t>목표</a:t>
            </a:r>
            <a:r>
              <a:rPr lang="en-US" altLang="ko-Kore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/>
              <a:t>Loss function </a:t>
            </a:r>
            <a:r>
              <a:rPr lang="ko-KR" altLang="en-US" sz="2400" dirty="0"/>
              <a:t>최소화</a:t>
            </a:r>
            <a:endParaRPr lang="ko-Kore-KR" alt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294566-5210-4E23-6E6A-2452FCC94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411" y="1936211"/>
            <a:ext cx="5295177" cy="2985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882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C039E-E30A-2227-0D0F-C99F366E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807E4-1620-13C8-B3F4-85022519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MLP</a:t>
            </a:r>
            <a:r>
              <a:rPr lang="ko-KR" altLang="en-US" dirty="0"/>
              <a:t>의 학습</a:t>
            </a:r>
            <a:r>
              <a:rPr lang="en-US" altLang="ko-KR" dirty="0"/>
              <a:t>(Gradient Descent </a:t>
            </a:r>
            <a:r>
              <a:rPr lang="ko-KR" altLang="en-US" dirty="0"/>
              <a:t>소개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146" name="Picture 2" descr="What is the Gradient Descent Algorithm - Analytics Vidhya">
            <a:extLst>
              <a:ext uri="{FF2B5EF4-FFF2-40B4-BE49-F238E27FC236}">
                <a16:creationId xmlns:a16="http://schemas.microsoft.com/office/drawing/2014/main" id="{396256D5-3436-0E44-35CF-41686D095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09940" y="1476375"/>
            <a:ext cx="8057844" cy="499586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52075E-2682-8A84-6815-CF77E8BEE8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새로운 학습 방법과 </a:t>
            </a:r>
            <a:r>
              <a:rPr lang="en-US" altLang="ko-KR" dirty="0"/>
              <a:t>MLP</a:t>
            </a:r>
            <a:r>
              <a:rPr lang="ko-KR" altLang="en-US" dirty="0"/>
              <a:t>의 등장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63501-2031-FAD3-3E5B-6D9831961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눈을 가리고 산을 내려오는 것</a:t>
            </a:r>
            <a:r>
              <a:rPr lang="en-US" altLang="ko-KR" sz="2400" dirty="0"/>
              <a:t>(</a:t>
            </a:r>
            <a:r>
              <a:rPr lang="ko-KR" altLang="en-US" sz="2400" dirty="0"/>
              <a:t>어느 방향으로</a:t>
            </a:r>
            <a:r>
              <a:rPr lang="en-US" altLang="ko-KR" sz="2400" dirty="0"/>
              <a:t>, </a:t>
            </a:r>
            <a:r>
              <a:rPr lang="ko-KR" altLang="en-US" sz="2400" dirty="0"/>
              <a:t>얼마만큼 </a:t>
            </a:r>
            <a:r>
              <a:rPr lang="ko-KR" altLang="en-US" sz="2400" dirty="0" err="1"/>
              <a:t>갈것인가</a:t>
            </a:r>
            <a:r>
              <a:rPr lang="en-US" altLang="ko-KR" sz="2400" dirty="0"/>
              <a:t>?)</a:t>
            </a:r>
          </a:p>
        </p:txBody>
      </p:sp>
    </p:spTree>
    <p:extLst>
      <p:ext uri="{BB962C8B-B14F-4D97-AF65-F5344CB8AC3E}">
        <p14:creationId xmlns:p14="http://schemas.microsoft.com/office/powerpoint/2010/main" val="1368283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FD35B-61AD-B2FF-A7AA-C0B249D9D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D4B3D4-89BB-5B64-6269-0DA606614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MLP</a:t>
            </a:r>
            <a:r>
              <a:rPr lang="ko-KR" altLang="en-US" dirty="0"/>
              <a:t>의 학습</a:t>
            </a:r>
            <a:r>
              <a:rPr lang="en-US" altLang="ko-KR" dirty="0"/>
              <a:t>(Gradient Descent </a:t>
            </a:r>
            <a:r>
              <a:rPr lang="ko-KR" altLang="en-US" dirty="0"/>
              <a:t>소개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DA289D-D2D3-8660-7320-26D61A4154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새로운 학습 방법과 </a:t>
            </a:r>
            <a:r>
              <a:rPr lang="en-US" altLang="ko-KR" dirty="0"/>
              <a:t>MLP</a:t>
            </a:r>
            <a:r>
              <a:rPr lang="ko-KR" altLang="en-US" dirty="0"/>
              <a:t>의 등장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AA3F5D-A0AA-0C3F-FC51-019A89E63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5" name="그림 4" descr="r/MLQuestions - Visualizing the Loss Function Over Parameter Space">
            <a:extLst>
              <a:ext uri="{FF2B5EF4-FFF2-40B4-BE49-F238E27FC236}">
                <a16:creationId xmlns:a16="http://schemas.microsoft.com/office/drawing/2014/main" id="{C4C0FBFF-A5C5-16B9-D77F-5837A4689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616869"/>
            <a:ext cx="68580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51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12606-1997-08C7-4111-7C94C98C7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87BEFE-DC35-E3F1-FF39-5EF77C096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MLP</a:t>
            </a:r>
            <a:r>
              <a:rPr lang="ko-KR" altLang="en-US" dirty="0"/>
              <a:t>의 학습</a:t>
            </a:r>
            <a:r>
              <a:rPr lang="en-US" altLang="ko-KR" dirty="0"/>
              <a:t>(Gradient Descent </a:t>
            </a:r>
            <a:r>
              <a:rPr lang="ko-KR" altLang="en-US" dirty="0"/>
              <a:t>소개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1F0F85-B38A-852F-0041-6C14E8C83C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새로운 학습 방법과 </a:t>
            </a:r>
            <a:r>
              <a:rPr lang="en-US" altLang="ko-KR" dirty="0"/>
              <a:t>MLP</a:t>
            </a:r>
            <a:r>
              <a:rPr lang="ko-KR" altLang="en-US" dirty="0"/>
              <a:t>의 등장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7F2ED1-B22F-B203-57F4-D5BB90C0E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Gradient</a:t>
            </a:r>
            <a:r>
              <a:rPr lang="ko-KR" altLang="en-US" sz="2400" dirty="0"/>
              <a:t>의 의미</a:t>
            </a:r>
            <a:endParaRPr lang="en-US" altLang="ko-KR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5301B2-48DF-197C-EACA-1C6040B7D1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3" r="7086" b="11165"/>
          <a:stretch>
            <a:fillRect/>
          </a:stretch>
        </p:blipFill>
        <p:spPr>
          <a:xfrm>
            <a:off x="5854700" y="1889885"/>
            <a:ext cx="5994400" cy="37870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94090B1-3CFE-8166-E2B5-41A5E7B14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96" y="1889885"/>
            <a:ext cx="4840242" cy="37870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997E63-58B4-75F0-4500-3D4F5AC60875}"/>
              </a:ext>
            </a:extLst>
          </p:cNvPr>
          <p:cNvSpPr txBox="1"/>
          <p:nvPr/>
        </p:nvSpPr>
        <p:spPr>
          <a:xfrm>
            <a:off x="428625" y="6082526"/>
            <a:ext cx="3204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https://www.geogebra.org/classic/zkdfapfk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62097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1735E-9568-0B65-08D1-F4FCCD617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54573-2CBC-4B57-6E0A-DA42EF01E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MLP</a:t>
            </a:r>
            <a:r>
              <a:rPr lang="ko-KR" altLang="en-US" dirty="0"/>
              <a:t>의 학습</a:t>
            </a:r>
            <a:r>
              <a:rPr lang="en-US" altLang="ko-KR" dirty="0"/>
              <a:t>(Gradient Descent </a:t>
            </a:r>
            <a:r>
              <a:rPr lang="ko-KR" altLang="en-US" dirty="0"/>
              <a:t>소개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DA970-9A5B-D868-DA45-6D982981F6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새로운 학습 방법과 </a:t>
            </a:r>
            <a:r>
              <a:rPr lang="en-US" altLang="ko-KR" dirty="0"/>
              <a:t>MLP</a:t>
            </a:r>
            <a:r>
              <a:rPr lang="ko-KR" altLang="en-US" dirty="0"/>
              <a:t>의 등장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C82F9C-B902-8BD9-F456-9824BFF38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181100"/>
            <a:ext cx="11420475" cy="4995863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눈을 가리고 산을 내려오는 것</a:t>
            </a:r>
            <a:r>
              <a:rPr lang="en-US" altLang="ko-KR" sz="2400" dirty="0"/>
              <a:t>(</a:t>
            </a:r>
            <a:r>
              <a:rPr lang="ko-KR" altLang="en-US" sz="2400" dirty="0"/>
              <a:t>어느 방향으로</a:t>
            </a:r>
            <a:r>
              <a:rPr lang="en-US" altLang="ko-KR" sz="2400" dirty="0"/>
              <a:t>, </a:t>
            </a:r>
            <a:r>
              <a:rPr lang="ko-KR" altLang="en-US" sz="2400" dirty="0"/>
              <a:t>얼마만큼 </a:t>
            </a:r>
            <a:r>
              <a:rPr lang="ko-KR" altLang="en-US" sz="2400" dirty="0" err="1"/>
              <a:t>갈것인가</a:t>
            </a:r>
            <a:r>
              <a:rPr lang="en-US" altLang="ko-KR" sz="2400" dirty="0"/>
              <a:t>?)</a:t>
            </a:r>
          </a:p>
        </p:txBody>
      </p:sp>
      <p:pic>
        <p:nvPicPr>
          <p:cNvPr id="2050" name="Picture 2" descr="Gradient Descent - 공돌이의 수학정리노트 (Angelo's Math Notes)">
            <a:extLst>
              <a:ext uri="{FF2B5EF4-FFF2-40B4-BE49-F238E27FC236}">
                <a16:creationId xmlns:a16="http://schemas.microsoft.com/office/drawing/2014/main" id="{256AAFE6-146A-81EC-21CE-1E6F4A4F4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072" y="2099130"/>
            <a:ext cx="10427855" cy="3690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8199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05A90-E519-061A-14F4-E0937095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120748-0F4A-19BF-A35B-805289C16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MLP</a:t>
            </a:r>
            <a:r>
              <a:rPr lang="ko-KR" altLang="en-US" dirty="0"/>
              <a:t>의 학습</a:t>
            </a:r>
            <a:r>
              <a:rPr lang="en-US" altLang="ko-KR" dirty="0"/>
              <a:t>(Gradient Descent </a:t>
            </a:r>
            <a:r>
              <a:rPr lang="ko-KR" altLang="en-US" dirty="0"/>
              <a:t>소개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615A83-2174-C53A-F0DA-5B30CCE0C8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새로운 학습 방법과 </a:t>
            </a:r>
            <a:r>
              <a:rPr lang="en-US" altLang="ko-KR" dirty="0"/>
              <a:t>MLP</a:t>
            </a:r>
            <a:r>
              <a:rPr lang="ko-KR" altLang="en-US" dirty="0"/>
              <a:t>의 등장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4D81590-130F-E30F-D17F-954660BF7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820917"/>
            <a:ext cx="48768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433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D8330-6C4B-4D8E-2E6A-C9582CFE8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61DC2-0453-74F5-03CD-EE93C1BD1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MLP</a:t>
            </a:r>
            <a:r>
              <a:rPr lang="ko-KR" altLang="en-US" dirty="0"/>
              <a:t>의 학습</a:t>
            </a:r>
            <a:r>
              <a:rPr lang="en-US" altLang="ko-KR" dirty="0"/>
              <a:t>(Gradient Descent </a:t>
            </a:r>
            <a:r>
              <a:rPr lang="ko-KR" altLang="en-US" dirty="0"/>
              <a:t>소개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2C9502-332E-3E75-437C-7DB7A858E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새로운 학습 방법과 </a:t>
            </a:r>
            <a:r>
              <a:rPr lang="en-US" altLang="ko-KR" dirty="0"/>
              <a:t>MLP</a:t>
            </a:r>
            <a:r>
              <a:rPr lang="ko-KR" altLang="en-US" dirty="0"/>
              <a:t>의 등장</a:t>
            </a:r>
          </a:p>
        </p:txBody>
      </p:sp>
      <p:pic>
        <p:nvPicPr>
          <p:cNvPr id="3" name="Picture 2" descr="What is the Gradient Descent Algorithm - Analytics Vidhya">
            <a:extLst>
              <a:ext uri="{FF2B5EF4-FFF2-40B4-BE49-F238E27FC236}">
                <a16:creationId xmlns:a16="http://schemas.microsoft.com/office/drawing/2014/main" id="{0CD36C28-D388-5E4D-C7A2-FD8FA00AC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103" y="2182223"/>
            <a:ext cx="4875392" cy="3022743"/>
          </a:xfrm>
          <a:prstGeom prst="rect">
            <a:avLst/>
          </a:prstGeom>
          <a:solidFill>
            <a:srgbClr val="FFFFFF"/>
          </a:solidFill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1A5FD3-FADA-9009-193D-70D60CBAAD32}"/>
                  </a:ext>
                </a:extLst>
              </p:cNvPr>
              <p:cNvSpPr txBox="1"/>
              <p:nvPr/>
            </p:nvSpPr>
            <p:spPr>
              <a:xfrm>
                <a:off x="5768771" y="2973562"/>
                <a:ext cx="4140814" cy="11440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ore-KR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ore-KR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ore-KR" sz="3600" b="0" i="1" smtClean="0">
                          <a:latin typeface="Cambria Math" panose="02040503050406030204" pitchFamily="18" charset="0"/>
                        </a:rPr>
                        <m:t>=  </m:t>
                      </m:r>
                      <m:sSub>
                        <m:sSubPr>
                          <m:ctrlPr>
                            <a:rPr kumimoji="1" lang="en-US" altLang="ko-Kore-KR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ore-KR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ore-KR" sz="3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ko-Kore-KR" sz="36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kumimoji="1" lang="en-US" altLang="ko-Kore-KR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ore-KR" sz="3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ko-Kore-KR" sz="3600" b="1" i="1" smtClean="0">
                              <a:latin typeface="Cambria Math" panose="02040503050406030204" pitchFamily="18" charset="0"/>
                            </a:rPr>
                            <m:t>𝑳𝒐𝒔𝒔</m:t>
                          </m:r>
                        </m:num>
                        <m:den>
                          <m:r>
                            <a:rPr kumimoji="1" lang="en-US" altLang="ko-Kore-KR" sz="3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ore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ore-KR" sz="3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ore-KR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ko-Kore-KR" alt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1A5FD3-FADA-9009-193D-70D60CBAA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771" y="2973562"/>
                <a:ext cx="4140814" cy="11440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직사각형 6">
            <a:extLst>
              <a:ext uri="{FF2B5EF4-FFF2-40B4-BE49-F238E27FC236}">
                <a16:creationId xmlns:a16="http://schemas.microsoft.com/office/drawing/2014/main" id="{987EFB24-E7EA-7A2D-CA0B-72B563C1BAA3}"/>
              </a:ext>
            </a:extLst>
          </p:cNvPr>
          <p:cNvSpPr/>
          <p:nvPr/>
        </p:nvSpPr>
        <p:spPr>
          <a:xfrm>
            <a:off x="8507689" y="2778322"/>
            <a:ext cx="1422916" cy="15345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128EB2-B86B-E73D-ACD2-95BDEFCE850B}"/>
                  </a:ext>
                </a:extLst>
              </p:cNvPr>
              <p:cNvSpPr txBox="1"/>
              <p:nvPr/>
            </p:nvSpPr>
            <p:spPr>
              <a:xfrm>
                <a:off x="5520204" y="4624316"/>
                <a:ext cx="597496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sz="2400" dirty="0"/>
                  <a:t>다른</a:t>
                </a:r>
                <a:r>
                  <a:rPr kumimoji="1" lang="ko-KR" altLang="en-US" sz="2400" dirty="0"/>
                  <a:t> 변수를 고정하고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ore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ore-KR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ko-Kore-K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ko-Kore-KR" altLang="en-US" sz="2400" dirty="0"/>
                  <a:t>이</a:t>
                </a:r>
                <a:r>
                  <a:rPr kumimoji="1" lang="ko-KR" altLang="en-US" sz="2400" dirty="0"/>
                  <a:t> 조금 변했을 때</a:t>
                </a:r>
                <a:r>
                  <a:rPr kumimoji="1" lang="en-US" altLang="ko-KR" sz="2400" dirty="0"/>
                  <a:t>,</a:t>
                </a:r>
              </a:p>
              <a:p>
                <a:pPr algn="ctr"/>
                <a:r>
                  <a:rPr kumimoji="1" lang="ko-KR" altLang="en-US" sz="2400" dirty="0"/>
                  <a:t> </a:t>
                </a:r>
                <a:r>
                  <a:rPr kumimoji="1" lang="en-US" altLang="ko-KR" sz="2400" dirty="0"/>
                  <a:t>Loss</a:t>
                </a:r>
                <a:r>
                  <a:rPr kumimoji="1" lang="ko-KR" altLang="en-US" sz="2400" dirty="0"/>
                  <a:t>가 얼마나 변하는가</a:t>
                </a:r>
                <a:r>
                  <a:rPr kumimoji="1" lang="en-US" altLang="ko-KR" sz="2400" dirty="0"/>
                  <a:t>?</a:t>
                </a:r>
                <a:endParaRPr kumimoji="1" lang="ko-Kore-KR" alt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128EB2-B86B-E73D-ACD2-95BDEFCE8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204" y="4624316"/>
                <a:ext cx="5974969" cy="830997"/>
              </a:xfrm>
              <a:prstGeom prst="rect">
                <a:avLst/>
              </a:prstGeom>
              <a:blipFill>
                <a:blip r:embed="rId4"/>
                <a:stretch>
                  <a:fillRect l="-1122" t="-6618" r="-1020" b="-16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6748B7F-1253-57BF-8672-B05EED3F221B}"/>
              </a:ext>
            </a:extLst>
          </p:cNvPr>
          <p:cNvCxnSpPr>
            <a:cxnSpLocks/>
          </p:cNvCxnSpPr>
          <p:nvPr/>
        </p:nvCxnSpPr>
        <p:spPr>
          <a:xfrm>
            <a:off x="6539345" y="2096655"/>
            <a:ext cx="1773382" cy="1219200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B6820EE-921A-2933-BDCE-E71CC03599A2}"/>
              </a:ext>
            </a:extLst>
          </p:cNvPr>
          <p:cNvSpPr txBox="1"/>
          <p:nvPr/>
        </p:nvSpPr>
        <p:spPr>
          <a:xfrm>
            <a:off x="5332925" y="1615665"/>
            <a:ext cx="24128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얼마나 움직일지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A690DB4-4682-C6AD-3204-88A7F0B39022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9219147" y="2149792"/>
            <a:ext cx="469798" cy="628530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95A4-5A54-DE7C-F203-22E383BD17ED}"/>
              </a:ext>
            </a:extLst>
          </p:cNvPr>
          <p:cNvSpPr txBox="1"/>
          <p:nvPr/>
        </p:nvSpPr>
        <p:spPr>
          <a:xfrm>
            <a:off x="8445656" y="1676687"/>
            <a:ext cx="2486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어디로 움직일지</a:t>
            </a:r>
          </a:p>
        </p:txBody>
      </p:sp>
    </p:spTree>
    <p:extLst>
      <p:ext uri="{BB962C8B-B14F-4D97-AF65-F5344CB8AC3E}">
        <p14:creationId xmlns:p14="http://schemas.microsoft.com/office/powerpoint/2010/main" val="2697778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BF1D7-6C9E-9902-10AC-7D5ED77F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A1C61-6665-F2D8-5489-7F3F47A7F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MLP</a:t>
            </a:r>
            <a:r>
              <a:rPr lang="ko-KR" altLang="en-US" dirty="0"/>
              <a:t>의 학습</a:t>
            </a:r>
            <a:r>
              <a:rPr lang="en-US" altLang="ko-KR" dirty="0"/>
              <a:t>(Back Propagation</a:t>
            </a:r>
            <a:r>
              <a:rPr lang="ko-KR" altLang="en-US" dirty="0"/>
              <a:t>소개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4D2C3C-1A68-33CA-68CE-3100B63297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3.</a:t>
            </a:r>
            <a:r>
              <a:rPr lang="ko-KR" altLang="en-US" dirty="0"/>
              <a:t> 새로운 학습 방법과 </a:t>
            </a:r>
            <a:r>
              <a:rPr lang="en-US" altLang="ko-KR" dirty="0"/>
              <a:t>MLP</a:t>
            </a:r>
            <a:r>
              <a:rPr lang="ko-KR" altLang="en-US" dirty="0"/>
              <a:t>의 등장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DBF87E54-1931-B8AB-2618-CC23409AA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578" y="1211751"/>
            <a:ext cx="3986842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6514CA-2EE3-EC6E-7592-E397CF8FF541}"/>
                  </a:ext>
                </a:extLst>
              </p:cNvPr>
              <p:cNvSpPr txBox="1"/>
              <p:nvPr/>
            </p:nvSpPr>
            <p:spPr>
              <a:xfrm>
                <a:off x="7771770" y="4778744"/>
                <a:ext cx="3425874" cy="6374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" altLang="ko-Kore-K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" altLang="ko-Kore-KR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num>
                        <m:den>
                          <m:r>
                            <a:rPr kumimoji="1" lang="en" altLang="ko-Kore-KR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  <m:r>
                        <a:rPr kumimoji="1" lang="en-US" altLang="ko-Kore-KR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1" lang="en-US" altLang="ko-Kore-KR" sz="2000" b="0" i="1" smtClean="0">
                          <a:latin typeface="Cambria Math" panose="02040503050406030204" pitchFamily="18" charset="0"/>
                        </a:rPr>
                        <m:t>× </m:t>
                      </m:r>
                      <m:f>
                        <m:fPr>
                          <m:ctrlPr>
                            <a:rPr kumimoji="1" lang="en-US" altLang="ko-Kore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ore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ko-Kore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kumimoji="1" lang="en-US" altLang="ko-Kore-K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kumimoji="1" lang="en-US" altLang="ko-Kore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ore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ko-Kore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ko-Kore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6514CA-2EE3-EC6E-7592-E397CF8FF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770" y="4778744"/>
                <a:ext cx="3425874" cy="637482"/>
              </a:xfrm>
              <a:prstGeom prst="rect">
                <a:avLst/>
              </a:prstGeom>
              <a:blipFill>
                <a:blip r:embed="rId3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0941F4-9D01-1E77-5096-BAA6B848F1EB}"/>
                  </a:ext>
                </a:extLst>
              </p:cNvPr>
              <p:cNvSpPr txBox="1"/>
              <p:nvPr/>
            </p:nvSpPr>
            <p:spPr>
              <a:xfrm>
                <a:off x="1809471" y="4134214"/>
                <a:ext cx="2050818" cy="3341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ore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ko-Kore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kumimoji="1" lang="en-US" altLang="ko-Kore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kumimoji="1" lang="en-US" altLang="ko-Kore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kumimoji="1" lang="ko-Kore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0941F4-9D01-1E77-5096-BAA6B848F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471" y="4134214"/>
                <a:ext cx="2050818" cy="334194"/>
              </a:xfrm>
              <a:prstGeom prst="rect">
                <a:avLst/>
              </a:prstGeom>
              <a:blipFill>
                <a:blip r:embed="rId4"/>
                <a:stretch>
                  <a:fillRect l="-2381" b="-145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52B740-301D-1A9B-19F7-DF8A524CF3DB}"/>
                  </a:ext>
                </a:extLst>
              </p:cNvPr>
              <p:cNvSpPr txBox="1"/>
              <p:nvPr/>
            </p:nvSpPr>
            <p:spPr>
              <a:xfrm>
                <a:off x="1809471" y="4619182"/>
                <a:ext cx="2809359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kumimoji="1" lang="en-US" altLang="ko-Kore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𝑡𝑎𝑟𝑔𝑒</m:t>
                              </m:r>
                              <m:sSub>
                                <m:sSubPr>
                                  <m:ctrlPr>
                                    <a:rPr kumimoji="1" lang="en-US" altLang="ko-Kore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ore-KR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ko-Kore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ore-KR" sz="20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kumimoji="1" lang="en-US" altLang="ko-Kore-KR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ko-Kore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52B740-301D-1A9B-19F7-DF8A524CF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471" y="4619182"/>
                <a:ext cx="2809359" cy="576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A55957-3777-E9A0-3DC7-3F7637ECDD87}"/>
                  </a:ext>
                </a:extLst>
              </p:cNvPr>
              <p:cNvSpPr txBox="1"/>
              <p:nvPr/>
            </p:nvSpPr>
            <p:spPr>
              <a:xfrm>
                <a:off x="1802802" y="5310874"/>
                <a:ext cx="203504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ore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ore-KR" sz="2000" b="0" i="1" smtClean="0">
                          <a:latin typeface="Cambria Math" panose="02040503050406030204" pitchFamily="18" charset="0"/>
                        </a:rPr>
                        <m:t>𝑠𝑖𝑔𝑚𝑜𝑖𝑑</m:t>
                      </m:r>
                      <m:r>
                        <a:rPr kumimoji="1" lang="en-US" altLang="ko-Kore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ko-Kore-K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ore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A55957-3777-E9A0-3DC7-3F7637ECD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802" y="5310874"/>
                <a:ext cx="2035044" cy="307777"/>
              </a:xfrm>
              <a:prstGeom prst="rect">
                <a:avLst/>
              </a:prstGeom>
              <a:blipFill>
                <a:blip r:embed="rId6"/>
                <a:stretch>
                  <a:fillRect l="-1198" r="-3892" b="-372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A3A5FE-F202-87B0-4CDA-F67C1981F936}"/>
                  </a:ext>
                </a:extLst>
              </p:cNvPr>
              <p:cNvSpPr txBox="1"/>
              <p:nvPr/>
            </p:nvSpPr>
            <p:spPr>
              <a:xfrm>
                <a:off x="1809471" y="5864066"/>
                <a:ext cx="20597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ko-Kore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ore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ore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ore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ore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A3A5FE-F202-87B0-4CDA-F67C1981F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471" y="5864066"/>
                <a:ext cx="2059731" cy="307777"/>
              </a:xfrm>
              <a:prstGeom prst="rect">
                <a:avLst/>
              </a:prstGeom>
              <a:blipFill>
                <a:blip r:embed="rId7"/>
                <a:stretch>
                  <a:fillRect l="-1183" r="-296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2A2FF7FE-4A89-0B55-B1C2-67EABF9470F4}"/>
              </a:ext>
            </a:extLst>
          </p:cNvPr>
          <p:cNvSpPr/>
          <p:nvPr/>
        </p:nvSpPr>
        <p:spPr>
          <a:xfrm>
            <a:off x="5371949" y="5040903"/>
            <a:ext cx="1512277" cy="311588"/>
          </a:xfrm>
          <a:prstGeom prst="rightArrow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8E731C-405D-13BD-3CF6-DD9F55C9C703}"/>
                  </a:ext>
                </a:extLst>
              </p:cNvPr>
              <p:cNvSpPr txBox="1"/>
              <p:nvPr/>
            </p:nvSpPr>
            <p:spPr>
              <a:xfrm>
                <a:off x="3532541" y="3429000"/>
                <a:ext cx="5489708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ore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ore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kumimoji="1" lang="en-US" altLang="ko-Kore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kumimoji="1" lang="en-US" altLang="ko-Kore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𝑡𝑎𝑟𝑔𝑒</m:t>
                              </m:r>
                              <m:sSub>
                                <m:sSubPr>
                                  <m:ctrlPr>
                                    <a:rPr kumimoji="1" lang="en-US" altLang="ko-Kore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ore-KR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ko-Kore-KR" sz="2000" b="0" i="1" smtClean="0">
                                  <a:latin typeface="Cambria Math" panose="02040503050406030204" pitchFamily="18" charset="0"/>
                                </a:rPr>
                                <m:t>𝑠𝑖𝑔𝑚𝑜𝑖𝑑</m:t>
                              </m:r>
                              <m:d>
                                <m:dPr>
                                  <m:ctrlPr>
                                    <a:rPr kumimoji="1" lang="en-US" altLang="ko-Kore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ko-Kore-KR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ore-KR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kumimoji="1" lang="en-US" altLang="ko-Kore-KR" sz="20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kumimoji="1" lang="en-US" altLang="ko-Kore-KR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kumimoji="1" lang="en-US" altLang="ko-Kore-K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kumimoji="1" lang="en-US" altLang="ko-Kore-KR" sz="2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kumimoji="1" lang="en-US" altLang="ko-Kore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ko-Kore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8E731C-405D-13BD-3CF6-DD9F55C9C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541" y="3429000"/>
                <a:ext cx="5489708" cy="5761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512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A2D3B-108C-4700-9795-71E1596F5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6ADEC-01C0-45B4-73DA-F3F01A8ED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ko-KR" altLang="en-US" dirty="0"/>
              <a:t>다양한 활성화함수의 등장</a:t>
            </a:r>
            <a:r>
              <a:rPr lang="en-US" altLang="ko-KR" dirty="0"/>
              <a:t>(Vanishing Gradient)</a:t>
            </a:r>
            <a:endParaRPr lang="ko-KR" altLang="en-US" dirty="0"/>
          </a:p>
        </p:txBody>
      </p:sp>
      <p:pic>
        <p:nvPicPr>
          <p:cNvPr id="17410" name="Picture 2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464D5B-0289-9E38-60FC-8A71BE157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2999" y="1363662"/>
            <a:ext cx="9991726" cy="499586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BBF581-23E0-7272-ED56-69977B2DD9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/>
              <a:t>MLP</a:t>
            </a:r>
            <a:r>
              <a:rPr lang="ko-KR" altLang="en-US" dirty="0"/>
              <a:t>의 한계</a:t>
            </a:r>
          </a:p>
        </p:txBody>
      </p:sp>
    </p:spTree>
    <p:extLst>
      <p:ext uri="{BB962C8B-B14F-4D97-AF65-F5344CB8AC3E}">
        <p14:creationId xmlns:p14="http://schemas.microsoft.com/office/powerpoint/2010/main" val="3553297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FB50C-72B9-034B-B7E1-8F5276E8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E5315-E703-E6EB-E1A8-36E341F71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Sigmoid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E44715-B724-2731-BE47-BF1FF1E3FB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/>
              <a:t>MLP</a:t>
            </a:r>
            <a:r>
              <a:rPr lang="ko-KR" altLang="en-US" dirty="0"/>
              <a:t>의 한계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436684-4891-4499-AD01-E3C4D447B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72" y="2153755"/>
            <a:ext cx="8992855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03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E706E-7DEA-F733-0C8F-2BABC243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4B0BD-7480-3035-3CB9-E219DE60D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498475"/>
            <a:ext cx="11420475" cy="682625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tanh(x)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5F0A2B-EB1D-EDFB-7C35-0DF00FE5EA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8625" y="203200"/>
            <a:ext cx="11420475" cy="361950"/>
          </a:xfrm>
        </p:spPr>
        <p:txBody>
          <a:bodyPr>
            <a:normAutofit/>
          </a:bodyPr>
          <a:lstStyle/>
          <a:p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/>
              <a:t>MLP</a:t>
            </a:r>
            <a:r>
              <a:rPr lang="ko-KR" altLang="en-US" dirty="0"/>
              <a:t>의 한계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3A9232-0E23-2AB1-0493-F683275A1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283" y="1595181"/>
            <a:ext cx="9021434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9017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사용자 지정 6">
      <a:dk1>
        <a:srgbClr val="002233"/>
      </a:dk1>
      <a:lt1>
        <a:sysClr val="window" lastClr="FFFFFF"/>
      </a:lt1>
      <a:dk2>
        <a:srgbClr val="002233"/>
      </a:dk2>
      <a:lt2>
        <a:srgbClr val="E7E6E6"/>
      </a:lt2>
      <a:accent1>
        <a:srgbClr val="EC8B83"/>
      </a:accent1>
      <a:accent2>
        <a:srgbClr val="98B2D1"/>
      </a:accent2>
      <a:accent3>
        <a:srgbClr val="FEAE51"/>
      </a:accent3>
      <a:accent4>
        <a:srgbClr val="B35F44"/>
      </a:accent4>
      <a:accent5>
        <a:srgbClr val="3078B4"/>
      </a:accent5>
      <a:accent6>
        <a:srgbClr val="9FDBAD"/>
      </a:accent6>
      <a:hlink>
        <a:srgbClr val="0563C1"/>
      </a:hlink>
      <a:folHlink>
        <a:srgbClr val="954F72"/>
      </a:folHlink>
    </a:clrScheme>
    <a:fontScheme name="사용자 지정 3">
      <a:majorFont>
        <a:latin typeface="Aleo"/>
        <a:ea typeface="나눔바른고딕"/>
        <a:cs typeface=""/>
      </a:majorFont>
      <a:minorFont>
        <a:latin typeface="Aleo Light"/>
        <a:ea typeface="나눔바른고딕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762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535</Words>
  <Application>Microsoft Office PowerPoint</Application>
  <PresentationFormat>와이드스크린</PresentationFormat>
  <Paragraphs>136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맑은 고딕</vt:lpstr>
      <vt:lpstr>Aleo</vt:lpstr>
      <vt:lpstr>Aleo Light</vt:lpstr>
      <vt:lpstr>Arial</vt:lpstr>
      <vt:lpstr>Cambria Math</vt:lpstr>
      <vt:lpstr>1_Office 테마</vt:lpstr>
      <vt:lpstr>Multi-Layer Perceptron</vt:lpstr>
      <vt:lpstr>목차</vt:lpstr>
      <vt:lpstr>퍼셉트론의 등장</vt:lpstr>
      <vt:lpstr>퍼셉트론이란?</vt:lpstr>
      <vt:lpstr>퍼셉트론이란?</vt:lpstr>
      <vt:lpstr>퍼셉트론이란?</vt:lpstr>
      <vt:lpstr>퍼셉트론이란?</vt:lpstr>
      <vt:lpstr>퍼셉트론이란?</vt:lpstr>
      <vt:lpstr>퍼셉트론이란?</vt:lpstr>
      <vt:lpstr>퍼셉트론의 한계</vt:lpstr>
      <vt:lpstr>퍼셉트론은 이 문제를 해결할 수 없는가?</vt:lpstr>
      <vt:lpstr>퍼셉트론은 이 문제를 해결할 수 없는가?</vt:lpstr>
      <vt:lpstr>새로운 학습 방법</vt:lpstr>
      <vt:lpstr>새로운 학습 방법</vt:lpstr>
      <vt:lpstr>Multi-Layer Perceptron</vt:lpstr>
      <vt:lpstr>Multi-Layer Perceptron</vt:lpstr>
      <vt:lpstr>Multi-Layer Perceptron(Forward)</vt:lpstr>
      <vt:lpstr>Multi-Layer Perceptron(Activation Function)</vt:lpstr>
      <vt:lpstr>Multi-Layer Perceptron(Backward Propagation)</vt:lpstr>
      <vt:lpstr>MLP의 학습(Gradient Descent 소개)</vt:lpstr>
      <vt:lpstr>MLP의 학습(Gradient Descent 소개)</vt:lpstr>
      <vt:lpstr>MLP의 학습(Gradient Descent 소개)</vt:lpstr>
      <vt:lpstr>MLP의 학습(Gradient Descent 소개)</vt:lpstr>
      <vt:lpstr>MLP의 학습(Gradient Descent 소개)</vt:lpstr>
      <vt:lpstr>MLP의 학습(Gradient Descent 소개)</vt:lpstr>
      <vt:lpstr>MLP의 학습(Back Propagation소개)</vt:lpstr>
      <vt:lpstr>다양한 활성화함수의 등장(Vanishing Gradient)</vt:lpstr>
      <vt:lpstr>Sigmoid</vt:lpstr>
      <vt:lpstr>tanh(x)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Shreve Ch3</dc:title>
  <dc:creator>최 지훈</dc:creator>
  <cp:lastModifiedBy>최지훈(산업경영공학과)</cp:lastModifiedBy>
  <cp:revision>4</cp:revision>
  <dcterms:created xsi:type="dcterms:W3CDTF">2025-03-04T11:09:15Z</dcterms:created>
  <dcterms:modified xsi:type="dcterms:W3CDTF">2026-05-15T13:53:18Z</dcterms:modified>
</cp:coreProperties>
</file>